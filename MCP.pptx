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379FA-BD10-4332-A5D0-8D71F7C71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686551-BB71-47F9-A6CD-95286B1CC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CF84C-8F14-46D3-BB03-9B5165774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9939-8947-445F-9BE5-9286E5B80C1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2D888-E820-4FE0-8DBB-C1422B8A2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50F69-AAE1-4195-9513-03BC2D383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140-4D69-42C5-A07C-3F7907389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60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D548-C0EF-4276-8EA7-7D14A3F8E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01E91-BB9A-4ADF-BD5E-E5BB21AA3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B5042-A183-4316-A142-D00080969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9939-8947-445F-9BE5-9286E5B80C1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B48E2-C2EB-4D0A-AC0C-C02FEC2A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5080F-E774-4201-A717-3E389DE0F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140-4D69-42C5-A07C-3F7907389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8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DF30-DEB3-40EC-8DBB-51197A609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7B603-35CF-4512-BF1B-DD5E2CF1F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53579-9BB6-4303-A1E5-23D86939C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9939-8947-445F-9BE5-9286E5B80C1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B5B98-8225-45CF-8EB4-AB9559FB2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247A0-05A7-4177-AD6A-09E65162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140-4D69-42C5-A07C-3F7907389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659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27495-1D7D-48B9-B3B8-3B54F0F4B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0F569-597E-4A9B-AC14-BAF442CADD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0E70C-0123-4EA0-B457-52156748E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55B63-85A5-4537-BDDE-874190F0C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9939-8947-445F-9BE5-9286E5B80C1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7BB5E-FFF6-4A99-92EB-E4D082815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74417-929A-4B0D-86BA-66744AC2A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140-4D69-42C5-A07C-3F7907389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82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84401-14C9-4904-99E8-F320FE1D5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6E11C-C353-4723-BB65-4E91E0960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CF9B4-3F88-41A7-8B9E-9D7EC5C6C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5B1B8-B79E-4B3E-BBB9-5F26C4BDBA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625C7F-4C17-4D85-92BD-9E8D11B7E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140B1E-3526-4EA6-8A74-31D2412AB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9939-8947-445F-9BE5-9286E5B80C1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5202AC-A125-4FB7-9F2D-B85C8CF07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26100-10CB-4B02-8F49-36A333A2A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140-4D69-42C5-A07C-3F7907389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95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5365C-2910-4EA0-AAC8-8FF3D6647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4D007E-3AC0-45DD-B0D6-2B3EF4771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9939-8947-445F-9BE5-9286E5B80C1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4E99F-A73D-4F97-9F64-AF8EF362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5A571-1244-4883-8BAC-F978B7F9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140-4D69-42C5-A07C-3F7907389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8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32D177-D051-485B-9EB1-969A8B35D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9939-8947-445F-9BE5-9286E5B80C1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28B88D-FE11-4827-AE0F-EE1718005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3F54D-AD7F-4064-BE61-22EB3C63E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140-4D69-42C5-A07C-3F7907389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13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B7DB9-0C8F-4332-8428-2EEF23F69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879C7-3215-4E79-8B76-1084EF530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92D22-137A-4EF2-B4C9-A6F3F840E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23B88-3CC2-4B4C-B769-AF53727F1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9939-8947-445F-9BE5-9286E5B80C1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675BE-4327-403D-BE3C-9CEDD0600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E1F46-A818-4EA2-91AA-037F43DE4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140-4D69-42C5-A07C-3F7907389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09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C6264-EF63-4C5B-ABEF-8F10C0B2F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15A029-E2D9-410D-9040-23DBAB30C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737E5-61CB-4315-B89B-8EFCF7D19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B8995-E477-4814-940A-33E8B9F2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9939-8947-445F-9BE5-9286E5B80C1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E9CD1-DA51-4066-91FC-4AF089517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01BBB-D12D-493B-9A2B-550DB0DF3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140-4D69-42C5-A07C-3F7907389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46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A5590-C505-4167-86C1-1B6E0AB14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5DE19A-AF16-4DAA-9F7D-77EFE6CC7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3369E-5F4A-49EE-9EC2-683C3661C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9939-8947-445F-9BE5-9286E5B80C1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5D2ED-CA85-4202-8BD6-702F6CCD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3AD7D-B5D9-414B-A8FA-DE0DDCC2B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140-4D69-42C5-A07C-3F7907389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52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0C8802-FE2B-48D3-B1E4-FD315CCBC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42495A-8958-4503-91CA-84C9767AE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E0422-FE13-4195-820B-FDA724876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9939-8947-445F-9BE5-9286E5B80C1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E9EAC-84BA-46C6-B6B8-D07FE2410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39FFB-1E0B-4A34-B8C3-08F8DCEFA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140-4D69-42C5-A07C-3F7907389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5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CA73E6-939E-4B22-A531-EF693C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163B3-1D37-4834-AA88-F141B5474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F7344-6A8E-4F82-849C-056F3CA28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D9939-8947-445F-9BE5-9286E5B80C1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D3BEF-3BD7-48DC-8C1B-3F84FEDC8F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C0213-F97A-43BA-9A7A-892C096D0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F02140-4D69-42C5-A07C-3F7907389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2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file:///\\logs\app.lo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suf-bolat/mcp-weather-server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891D9-DEBC-4BCE-905F-759CD9BF85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 Context Protocol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B9BF20-4FD6-4E16-AD27-BBEFA4431C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Tutorial: Weather MCP server &amp; Claude Desktop Integration</a:t>
            </a:r>
          </a:p>
        </p:txBody>
      </p:sp>
    </p:spTree>
    <p:extLst>
      <p:ext uri="{BB962C8B-B14F-4D97-AF65-F5344CB8AC3E}">
        <p14:creationId xmlns:p14="http://schemas.microsoft.com/office/powerpoint/2010/main" val="2982938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97020-3A58-4866-B7E5-4D6D25A1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MCP?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74D20-3AB6-44C5-9A9D-60941ED58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open standard by Anthropic that defines how AI models communicate with external tools, data sources and services.</a:t>
            </a:r>
          </a:p>
          <a:p>
            <a:endParaRPr lang="en-US" dirty="0"/>
          </a:p>
          <a:p>
            <a:r>
              <a:rPr lang="en-US" dirty="0"/>
              <a:t>Without MCP:</a:t>
            </a:r>
          </a:p>
          <a:p>
            <a:pPr lvl="1"/>
            <a:r>
              <a:rPr lang="en-US" dirty="0"/>
              <a:t>LLM &lt;-&gt; custom glue code &lt;-&gt; Tool A</a:t>
            </a:r>
          </a:p>
          <a:p>
            <a:pPr lvl="1"/>
            <a:r>
              <a:rPr lang="en-US" dirty="0"/>
              <a:t>LLM &lt;-&gt; another custom glue code &lt;-&gt; Tool B</a:t>
            </a:r>
          </a:p>
          <a:p>
            <a:r>
              <a:rPr lang="en-US" dirty="0"/>
              <a:t>With MCP:</a:t>
            </a:r>
          </a:p>
          <a:p>
            <a:pPr lvl="1"/>
            <a:r>
              <a:rPr lang="en-US" dirty="0"/>
              <a:t>LLM (MCP Client) &lt;-&gt; MCP Protocol &lt;-&gt; Any MCP Server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820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AFD6-4BBC-462D-99D1-08FA8C3F5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042"/>
            <a:ext cx="10515600" cy="1325563"/>
          </a:xfrm>
        </p:spPr>
        <p:txBody>
          <a:bodyPr/>
          <a:lstStyle/>
          <a:p>
            <a:r>
              <a:rPr lang="en-US" dirty="0"/>
              <a:t>MCP Architecture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5AB7F3-2B4B-4629-903E-965F99E2F5C2}"/>
              </a:ext>
            </a:extLst>
          </p:cNvPr>
          <p:cNvSpPr/>
          <p:nvPr/>
        </p:nvSpPr>
        <p:spPr>
          <a:xfrm>
            <a:off x="1035518" y="2183331"/>
            <a:ext cx="2560320" cy="27432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80808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031EE2-35A9-4B5A-B828-D89739875CEC}"/>
              </a:ext>
            </a:extLst>
          </p:cNvPr>
          <p:cNvSpPr txBox="1"/>
          <p:nvPr/>
        </p:nvSpPr>
        <p:spPr>
          <a:xfrm>
            <a:off x="1126958" y="2320491"/>
            <a:ext cx="2377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MCP HOST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47094B-172F-4749-88BB-0AAB95C06EEC}"/>
              </a:ext>
            </a:extLst>
          </p:cNvPr>
          <p:cNvSpPr txBox="1"/>
          <p:nvPr/>
        </p:nvSpPr>
        <p:spPr>
          <a:xfrm>
            <a:off x="1126958" y="2823411"/>
            <a:ext cx="23774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/>
              <a:t>Claude Desktop,
Cursor, VS Code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0314B2-CEF1-4EC2-BB53-48F6912AC6C2}"/>
              </a:ext>
            </a:extLst>
          </p:cNvPr>
          <p:cNvSpPr/>
          <p:nvPr/>
        </p:nvSpPr>
        <p:spPr>
          <a:xfrm>
            <a:off x="4327358" y="2183331"/>
            <a:ext cx="2560320" cy="2743200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99BFB4-8007-4E21-97D0-F2CC60C3EE55}"/>
              </a:ext>
            </a:extLst>
          </p:cNvPr>
          <p:cNvSpPr txBox="1"/>
          <p:nvPr/>
        </p:nvSpPr>
        <p:spPr>
          <a:xfrm>
            <a:off x="4418797" y="2320491"/>
            <a:ext cx="2377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chemeClr val="tx1">
                    <a:lumMod val="95000"/>
                    <a:lumOff val="5000"/>
                  </a:schemeClr>
                </a:solidFill>
              </a:rPr>
              <a:t>MCP CLIENT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645CC0-F5D5-4596-B8B3-E86856796151}"/>
              </a:ext>
            </a:extLst>
          </p:cNvPr>
          <p:cNvSpPr txBox="1"/>
          <p:nvPr/>
        </p:nvSpPr>
        <p:spPr>
          <a:xfrm>
            <a:off x="4418797" y="2823411"/>
            <a:ext cx="23774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/>
              <a:t>Built into
the host app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D1E756-2673-407A-A16F-3131E35035D4}"/>
              </a:ext>
            </a:extLst>
          </p:cNvPr>
          <p:cNvSpPr/>
          <p:nvPr/>
        </p:nvSpPr>
        <p:spPr>
          <a:xfrm>
            <a:off x="7619195" y="2183331"/>
            <a:ext cx="3474723" cy="274320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F43779-D040-4F60-9317-4B97D1AFFAD2}"/>
              </a:ext>
            </a:extLst>
          </p:cNvPr>
          <p:cNvSpPr txBox="1"/>
          <p:nvPr/>
        </p:nvSpPr>
        <p:spPr>
          <a:xfrm>
            <a:off x="7710637" y="2318705"/>
            <a:ext cx="429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MCP SERVER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5979D1-5B96-45B2-AEC0-D8FF77882913}"/>
              </a:ext>
            </a:extLst>
          </p:cNvPr>
          <p:cNvSpPr txBox="1"/>
          <p:nvPr/>
        </p:nvSpPr>
        <p:spPr>
          <a:xfrm>
            <a:off x="3595838" y="3280611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C785A"/>
                </a:solidFill>
              </a:rPr>
              <a:t>⟷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8A6529-A2E5-4548-9332-5F4BE0D42941}"/>
              </a:ext>
            </a:extLst>
          </p:cNvPr>
          <p:cNvSpPr txBox="1"/>
          <p:nvPr/>
        </p:nvSpPr>
        <p:spPr>
          <a:xfrm>
            <a:off x="6887678" y="3280611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C785A"/>
                </a:solidFill>
              </a:rPr>
              <a:t>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5EE264-7B61-4DE3-902B-1A1710AB17FB}"/>
              </a:ext>
            </a:extLst>
          </p:cNvPr>
          <p:cNvSpPr txBox="1"/>
          <p:nvPr/>
        </p:nvSpPr>
        <p:spPr>
          <a:xfrm>
            <a:off x="7619200" y="3316189"/>
            <a:ext cx="4114800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dirty="0"/>
              <a:t>  Tools  (</a:t>
            </a:r>
            <a:r>
              <a:rPr sz="1500" dirty="0" err="1"/>
              <a:t>get_alerts</a:t>
            </a:r>
            <a:r>
              <a:rPr sz="1500" dirty="0"/>
              <a:t>, </a:t>
            </a:r>
            <a:r>
              <a:rPr sz="1500" dirty="0" err="1"/>
              <a:t>get_forecast</a:t>
            </a:r>
            <a:r>
              <a:rPr sz="1500" dirty="0"/>
              <a:t>)</a:t>
            </a:r>
          </a:p>
          <a:p>
            <a:pPr>
              <a:spcBef>
                <a:spcPts val="400"/>
              </a:spcBef>
            </a:pPr>
            <a:r>
              <a:rPr sz="1500" dirty="0"/>
              <a:t>  Resources  (file, DB access)</a:t>
            </a:r>
          </a:p>
          <a:p>
            <a:pPr>
              <a:spcBef>
                <a:spcPts val="400"/>
              </a:spcBef>
            </a:pPr>
            <a:r>
              <a:rPr sz="1500" dirty="0"/>
              <a:t>  Prompts  (reusable templates)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0C37DF-46A0-448A-ACD2-C640C2FD2979}"/>
              </a:ext>
            </a:extLst>
          </p:cNvPr>
          <p:cNvSpPr txBox="1"/>
          <p:nvPr/>
        </p:nvSpPr>
        <p:spPr>
          <a:xfrm>
            <a:off x="7710635" y="4416044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/>
              <a:t>Transport: </a:t>
            </a:r>
            <a:r>
              <a:rPr sz="1400" b="0" i="0" dirty="0" err="1"/>
              <a:t>stdio</a:t>
            </a:r>
            <a:r>
              <a:rPr sz="1400" b="0" i="0" dirty="0"/>
              <a:t>  |  HTTP/SSE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1EE581-76AB-4472-B726-53503D8F3A1F}"/>
              </a:ext>
            </a:extLst>
          </p:cNvPr>
          <p:cNvSpPr txBox="1"/>
          <p:nvPr/>
        </p:nvSpPr>
        <p:spPr>
          <a:xfrm>
            <a:off x="7710640" y="2823411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 err="1"/>
              <a:t>FastMCP</a:t>
            </a:r>
            <a:endParaRPr lang="en-US" sz="1400" b="0" i="0" dirty="0"/>
          </a:p>
        </p:txBody>
      </p:sp>
    </p:spTree>
    <p:extLst>
      <p:ext uri="{BB962C8B-B14F-4D97-AF65-F5344CB8AC3E}">
        <p14:creationId xmlns:p14="http://schemas.microsoft.com/office/powerpoint/2010/main" val="3269020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13011-2EAC-47D1-B29F-F40B7E915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MCP Primitives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8F63C-5CC8-45FD-8CF9-633220DBB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7362"/>
            <a:ext cx="348113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Tools</a:t>
            </a:r>
          </a:p>
          <a:p>
            <a:r>
              <a:rPr lang="en-US" sz="2400" dirty="0"/>
              <a:t>Functions the LLM can call</a:t>
            </a:r>
          </a:p>
          <a:p>
            <a:r>
              <a:rPr lang="en-US" sz="2400" dirty="0"/>
              <a:t>Have typed input schemas</a:t>
            </a:r>
          </a:p>
          <a:p>
            <a:r>
              <a:rPr lang="en-US" sz="2400" dirty="0"/>
              <a:t>Return structured results</a:t>
            </a:r>
          </a:p>
          <a:p>
            <a:pPr marL="0" indent="0">
              <a:buNone/>
            </a:pPr>
            <a:r>
              <a:rPr lang="en-US" sz="2400" dirty="0"/>
              <a:t>Example:</a:t>
            </a:r>
          </a:p>
          <a:p>
            <a:r>
              <a:rPr lang="en-US" sz="2400" dirty="0" err="1"/>
              <a:t>get_alerts</a:t>
            </a:r>
            <a:r>
              <a:rPr lang="en-US" sz="2400" dirty="0"/>
              <a:t>(state=“CA”)</a:t>
            </a:r>
          </a:p>
          <a:p>
            <a:r>
              <a:rPr lang="en-US" sz="2400" dirty="0" err="1"/>
              <a:t>get_forecast</a:t>
            </a:r>
            <a:r>
              <a:rPr lang="en-US" sz="2400" dirty="0"/>
              <a:t>(</a:t>
            </a:r>
            <a:r>
              <a:rPr lang="en-US" sz="2400" dirty="0" err="1"/>
              <a:t>lat</a:t>
            </a:r>
            <a:r>
              <a:rPr lang="en-US" sz="2400" dirty="0"/>
              <a:t>, </a:t>
            </a:r>
            <a:r>
              <a:rPr lang="en-US" sz="2400" dirty="0" err="1"/>
              <a:t>lon</a:t>
            </a:r>
            <a:r>
              <a:rPr lang="en-US" sz="2400" dirty="0"/>
              <a:t>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768C26-9584-4E09-8812-7392E917A31A}"/>
              </a:ext>
            </a:extLst>
          </p:cNvPr>
          <p:cNvSpPr txBox="1">
            <a:spLocks/>
          </p:cNvSpPr>
          <p:nvPr/>
        </p:nvSpPr>
        <p:spPr>
          <a:xfrm>
            <a:off x="4319336" y="1947362"/>
            <a:ext cx="34811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Resources</a:t>
            </a:r>
          </a:p>
          <a:p>
            <a:r>
              <a:rPr lang="en-US" sz="2400" dirty="0"/>
              <a:t>Read-only data the LLM can access as context</a:t>
            </a:r>
          </a:p>
          <a:p>
            <a:r>
              <a:rPr lang="en-US" sz="2400" dirty="0"/>
              <a:t>Files, DB rows, API data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Example:</a:t>
            </a:r>
          </a:p>
          <a:p>
            <a:r>
              <a:rPr lang="en-US" sz="2400" dirty="0">
                <a:hlinkClick r:id="rId2" action="ppaction://hlinkfile"/>
              </a:rPr>
              <a:t>File://logs/app.log</a:t>
            </a:r>
            <a:endParaRPr lang="en-US" sz="2400" dirty="0"/>
          </a:p>
          <a:p>
            <a:r>
              <a:rPr lang="en-US" sz="2400" dirty="0"/>
              <a:t>Db://users/schema</a:t>
            </a:r>
          </a:p>
          <a:p>
            <a:endParaRPr lang="en-US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355C092-34E8-4051-9AEC-387976D0DF6C}"/>
              </a:ext>
            </a:extLst>
          </p:cNvPr>
          <p:cNvSpPr txBox="1">
            <a:spLocks/>
          </p:cNvSpPr>
          <p:nvPr/>
        </p:nvSpPr>
        <p:spPr>
          <a:xfrm>
            <a:off x="7800472" y="1947362"/>
            <a:ext cx="35533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Resources</a:t>
            </a:r>
          </a:p>
          <a:p>
            <a:r>
              <a:rPr lang="en-US" sz="2400" dirty="0"/>
              <a:t>Pre-built prompt templates</a:t>
            </a:r>
          </a:p>
          <a:p>
            <a:r>
              <a:rPr lang="en-US" sz="2400" dirty="0"/>
              <a:t>Reusable across requests</a:t>
            </a:r>
          </a:p>
          <a:p>
            <a:r>
              <a:rPr lang="en-US" sz="2400" dirty="0"/>
              <a:t>Accept dynamic arguments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Example:</a:t>
            </a:r>
          </a:p>
          <a:p>
            <a:r>
              <a:rPr lang="en-US" sz="2400" dirty="0" err="1"/>
              <a:t>weather_summary</a:t>
            </a:r>
            <a:r>
              <a:rPr lang="en-US" sz="2400" dirty="0"/>
              <a:t>(state)</a:t>
            </a:r>
          </a:p>
          <a:p>
            <a:r>
              <a:rPr lang="en-US" sz="2400" dirty="0" err="1"/>
              <a:t>Explain_alert</a:t>
            </a:r>
            <a:r>
              <a:rPr lang="en-US" sz="2400" dirty="0"/>
              <a:t>(</a:t>
            </a:r>
            <a:r>
              <a:rPr lang="en-US" sz="2400" dirty="0" err="1"/>
              <a:t>alert_id</a:t>
            </a:r>
            <a:r>
              <a:rPr lang="en-US" sz="2400" dirty="0"/>
              <a:t>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40836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F4523-74BD-494D-BC74-68219362C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2345991"/>
          </a:xfrm>
        </p:spPr>
        <p:txBody>
          <a:bodyPr>
            <a:normAutofit/>
          </a:bodyPr>
          <a:lstStyle/>
          <a:p>
            <a:r>
              <a:rPr lang="en-US" b="1" dirty="0"/>
              <a:t>Tutorial: Weather MCP Server</a:t>
            </a:r>
            <a:br>
              <a:rPr lang="en-US" b="1" dirty="0"/>
            </a:br>
            <a:r>
              <a:rPr lang="en-US" sz="2700" dirty="0"/>
              <a:t>A Weather MCP Server built with Python and </a:t>
            </a:r>
            <a:r>
              <a:rPr lang="en-US" sz="2700" dirty="0" err="1"/>
              <a:t>FastMCP</a:t>
            </a:r>
            <a:r>
              <a:rPr lang="en-US" sz="2700" dirty="0"/>
              <a:t> that connects Claude Desktop to the US National Weather Service API, enabling real-time weather alerts and forecasts through natural language.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7602D-9B13-4F3D-90FE-AE7CDEDA4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1111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What it does?</a:t>
            </a:r>
          </a:p>
          <a:p>
            <a:r>
              <a:rPr lang="en-US" sz="2400" dirty="0"/>
              <a:t>Fetches live weather data from the NWS API</a:t>
            </a:r>
          </a:p>
          <a:p>
            <a:r>
              <a:rPr lang="en-US" sz="2400" dirty="0" err="1"/>
              <a:t>Get_alerts</a:t>
            </a:r>
            <a:r>
              <a:rPr lang="en-US" sz="2400" dirty="0"/>
              <a:t>(state) – active alerts for any US state</a:t>
            </a:r>
          </a:p>
          <a:p>
            <a:r>
              <a:rPr lang="en-US" sz="2400" dirty="0" err="1"/>
              <a:t>Get_forecast</a:t>
            </a:r>
            <a:r>
              <a:rPr lang="en-US" sz="2400" dirty="0"/>
              <a:t>(</a:t>
            </a:r>
            <a:r>
              <a:rPr lang="en-US" sz="2400" dirty="0" err="1"/>
              <a:t>lat</a:t>
            </a:r>
            <a:r>
              <a:rPr lang="en-US" sz="2400" dirty="0"/>
              <a:t>, </a:t>
            </a:r>
            <a:r>
              <a:rPr lang="en-US" sz="2400" dirty="0" err="1"/>
              <a:t>lon</a:t>
            </a:r>
            <a:r>
              <a:rPr lang="en-US" sz="2400" dirty="0"/>
              <a:t>) – 5-period forecast</a:t>
            </a:r>
          </a:p>
          <a:p>
            <a:r>
              <a:rPr lang="en-US" sz="2400" dirty="0"/>
              <a:t>Runs locally, called by Claude PC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31D52E-D216-4A95-91E7-F32DAA96C186}"/>
              </a:ext>
            </a:extLst>
          </p:cNvPr>
          <p:cNvSpPr txBox="1">
            <a:spLocks/>
          </p:cNvSpPr>
          <p:nvPr/>
        </p:nvSpPr>
        <p:spPr>
          <a:xfrm>
            <a:off x="6096000" y="271111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Tech stack</a:t>
            </a:r>
          </a:p>
          <a:p>
            <a:r>
              <a:rPr lang="en-US" sz="2400" dirty="0"/>
              <a:t>Python + </a:t>
            </a:r>
            <a:r>
              <a:rPr lang="en-US" sz="2400" dirty="0" err="1"/>
              <a:t>FastMCP</a:t>
            </a:r>
            <a:r>
              <a:rPr lang="en-US" sz="2400" dirty="0"/>
              <a:t> (</a:t>
            </a:r>
            <a:r>
              <a:rPr lang="en-US" sz="2400" dirty="0" err="1"/>
              <a:t>mcp</a:t>
            </a:r>
            <a:r>
              <a:rPr lang="en-US" sz="2400" dirty="0"/>
              <a:t>[cli])</a:t>
            </a:r>
          </a:p>
          <a:p>
            <a:r>
              <a:rPr lang="en-US" sz="2400" dirty="0" err="1"/>
              <a:t>Httpx</a:t>
            </a:r>
            <a:r>
              <a:rPr lang="en-US" sz="2400" dirty="0"/>
              <a:t> for async HTTP requests</a:t>
            </a:r>
          </a:p>
          <a:p>
            <a:r>
              <a:rPr lang="en-US" sz="2400" dirty="0" err="1"/>
              <a:t>Uv</a:t>
            </a:r>
            <a:r>
              <a:rPr lang="en-US" sz="2400" dirty="0"/>
              <a:t> for dependency &amp; env management</a:t>
            </a:r>
          </a:p>
          <a:p>
            <a:r>
              <a:rPr lang="en-US" sz="2400" dirty="0" err="1"/>
              <a:t>Stdio</a:t>
            </a:r>
            <a:r>
              <a:rPr lang="en-US" sz="2400" dirty="0"/>
              <a:t> transport for Claude PC</a:t>
            </a:r>
          </a:p>
          <a:p>
            <a:r>
              <a:rPr lang="en-US" sz="2400" dirty="0"/>
              <a:t>NWS API (free, no key needed)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328F2D3-128F-4859-8DA2-0185299EB88B}"/>
              </a:ext>
            </a:extLst>
          </p:cNvPr>
          <p:cNvSpPr txBox="1">
            <a:spLocks/>
          </p:cNvSpPr>
          <p:nvPr/>
        </p:nvSpPr>
        <p:spPr>
          <a:xfrm>
            <a:off x="838200" y="57368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Source: </a:t>
            </a:r>
            <a:r>
              <a:rPr lang="en-US" sz="2000" dirty="0">
                <a:hlinkClick r:id="rId2"/>
              </a:rPr>
              <a:t>https://github.com/yusuf-bolat/mcp-weather-server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49960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74C5-0C7E-4EBF-9711-118C8BFCD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</a:t>
            </a:r>
          </a:p>
        </p:txBody>
      </p:sp>
      <p:pic>
        <p:nvPicPr>
          <p:cNvPr id="4" name="Content Placeholder 3" descr="alert.jpg">
            <a:extLst>
              <a:ext uri="{FF2B5EF4-FFF2-40B4-BE49-F238E27FC236}">
                <a16:creationId xmlns:a16="http://schemas.microsoft.com/office/drawing/2014/main" id="{37A5D165-C984-486C-928E-2C6C58C84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727" y="1845488"/>
            <a:ext cx="4179912" cy="4822180"/>
          </a:xfrm>
          <a:prstGeom prst="rect">
            <a:avLst/>
          </a:prstGeom>
        </p:spPr>
      </p:pic>
      <p:pic>
        <p:nvPicPr>
          <p:cNvPr id="5" name="Picture 4" descr="forecast.jpg">
            <a:extLst>
              <a:ext uri="{FF2B5EF4-FFF2-40B4-BE49-F238E27FC236}">
                <a16:creationId xmlns:a16="http://schemas.microsoft.com/office/drawing/2014/main" id="{737F2B44-9B75-4640-AE78-D731A311F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362" y="1845488"/>
            <a:ext cx="4689438" cy="445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249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EBDA-CAD4-4E7E-A661-91B7CA73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can you build with MCP?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8B6BF-EFA8-42C4-8365-9F24F65B0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103959-5EC0-4414-AAFD-70CA2DB1D013}"/>
              </a:ext>
            </a:extLst>
          </p:cNvPr>
          <p:cNvSpPr/>
          <p:nvPr/>
        </p:nvSpPr>
        <p:spPr>
          <a:xfrm>
            <a:off x="471638" y="1670468"/>
            <a:ext cx="5303520" cy="2377440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BE4433-60FB-4C76-8B02-C0D8178ABEE3}"/>
              </a:ext>
            </a:extLst>
          </p:cNvPr>
          <p:cNvSpPr txBox="1"/>
          <p:nvPr/>
        </p:nvSpPr>
        <p:spPr>
          <a:xfrm>
            <a:off x="608798" y="17619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C785A"/>
                </a:solidFill>
              </a:rPr>
              <a:t>🗄  Data &amp; Databases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1575F9-2117-40FB-8626-F0302C8A6A07}"/>
              </a:ext>
            </a:extLst>
          </p:cNvPr>
          <p:cNvSpPr txBox="1"/>
          <p:nvPr/>
        </p:nvSpPr>
        <p:spPr>
          <a:xfrm>
            <a:off x="563078" y="2264828"/>
            <a:ext cx="512064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dirty="0"/>
              <a:t>  ● Query SQL/NoSQL databases</a:t>
            </a:r>
          </a:p>
          <a:p>
            <a:pPr>
              <a:spcBef>
                <a:spcPts val="400"/>
              </a:spcBef>
            </a:pPr>
            <a:r>
              <a:rPr sz="1600" dirty="0"/>
              <a:t>  ● Read files &amp; documents</a:t>
            </a:r>
          </a:p>
          <a:p>
            <a:pPr>
              <a:spcBef>
                <a:spcPts val="400"/>
              </a:spcBef>
            </a:pPr>
            <a:r>
              <a:rPr sz="1600" dirty="0"/>
              <a:t>  ● Access internal APIs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708FF6-47D8-4936-802D-E6F3AB380B0A}"/>
              </a:ext>
            </a:extLst>
          </p:cNvPr>
          <p:cNvSpPr/>
          <p:nvPr/>
        </p:nvSpPr>
        <p:spPr>
          <a:xfrm>
            <a:off x="6416842" y="1670468"/>
            <a:ext cx="5303520" cy="2377440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74CE64-7423-4418-8CC4-1FD9C36878DD}"/>
              </a:ext>
            </a:extLst>
          </p:cNvPr>
          <p:cNvSpPr txBox="1"/>
          <p:nvPr/>
        </p:nvSpPr>
        <p:spPr>
          <a:xfrm>
            <a:off x="6554002" y="1761908"/>
            <a:ext cx="5029200" cy="4572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C785A"/>
                </a:solidFill>
              </a:rPr>
              <a:t>🛠  Developer Tools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CDC6F4-FB62-47D0-8EB8-9A0D26A6D3E7}"/>
              </a:ext>
            </a:extLst>
          </p:cNvPr>
          <p:cNvSpPr txBox="1"/>
          <p:nvPr/>
        </p:nvSpPr>
        <p:spPr>
          <a:xfrm>
            <a:off x="6508282" y="2264828"/>
            <a:ext cx="5120640" cy="93358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dirty="0"/>
              <a:t>  ● Run tests, build pipelines</a:t>
            </a:r>
          </a:p>
          <a:p>
            <a:pPr>
              <a:spcBef>
                <a:spcPts val="400"/>
              </a:spcBef>
            </a:pPr>
            <a:r>
              <a:rPr sz="1600" dirty="0"/>
              <a:t>  ● Search GitHub / Jira / Notion</a:t>
            </a:r>
          </a:p>
          <a:p>
            <a:pPr>
              <a:spcBef>
                <a:spcPts val="400"/>
              </a:spcBef>
            </a:pPr>
            <a:r>
              <a:rPr sz="1600" dirty="0"/>
              <a:t>  ● Execute terminal commands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B1B204-3EE3-44A6-9CE2-F5938204B561}"/>
              </a:ext>
            </a:extLst>
          </p:cNvPr>
          <p:cNvSpPr/>
          <p:nvPr/>
        </p:nvSpPr>
        <p:spPr>
          <a:xfrm>
            <a:off x="471638" y="4230787"/>
            <a:ext cx="5303520" cy="2377440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4ADEC5-DC52-4D91-B409-AB62D5EDB4C7}"/>
              </a:ext>
            </a:extLst>
          </p:cNvPr>
          <p:cNvSpPr txBox="1"/>
          <p:nvPr/>
        </p:nvSpPr>
        <p:spPr>
          <a:xfrm>
            <a:off x="608798" y="4322227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C785A"/>
                </a:solidFill>
              </a:rPr>
              <a:t>🌐  External Services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A866CE-8BA9-471C-BC20-A69923C4A234}"/>
              </a:ext>
            </a:extLst>
          </p:cNvPr>
          <p:cNvSpPr txBox="1"/>
          <p:nvPr/>
        </p:nvSpPr>
        <p:spPr>
          <a:xfrm>
            <a:off x="563078" y="4825148"/>
            <a:ext cx="512064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dirty="0"/>
              <a:t>  ● Weather, maps, finance APIs</a:t>
            </a:r>
          </a:p>
          <a:p>
            <a:pPr>
              <a:spcBef>
                <a:spcPts val="400"/>
              </a:spcBef>
            </a:pPr>
            <a:r>
              <a:rPr sz="1600" dirty="0"/>
              <a:t>  ● Send emails / Slack messages</a:t>
            </a:r>
          </a:p>
          <a:p>
            <a:pPr>
              <a:spcBef>
                <a:spcPts val="400"/>
              </a:spcBef>
            </a:pPr>
            <a:r>
              <a:rPr sz="1600" dirty="0"/>
              <a:t>  ● Scrape &amp; summarize web pages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44E24-1D21-4926-99E6-06AFBDFF4D9A}"/>
              </a:ext>
            </a:extLst>
          </p:cNvPr>
          <p:cNvSpPr/>
          <p:nvPr/>
        </p:nvSpPr>
        <p:spPr>
          <a:xfrm>
            <a:off x="6416842" y="4230787"/>
            <a:ext cx="5303520" cy="2377440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336584-026D-4B99-AAC8-A67A5F247D48}"/>
              </a:ext>
            </a:extLst>
          </p:cNvPr>
          <p:cNvSpPr txBox="1"/>
          <p:nvPr/>
        </p:nvSpPr>
        <p:spPr>
          <a:xfrm>
            <a:off x="6554002" y="4322227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C785A"/>
                </a:solidFill>
              </a:rPr>
              <a:t>🤖  AI Workflows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26A120-2E78-40B5-B2DE-E1786CEB91F3}"/>
              </a:ext>
            </a:extLst>
          </p:cNvPr>
          <p:cNvSpPr txBox="1"/>
          <p:nvPr/>
        </p:nvSpPr>
        <p:spPr>
          <a:xfrm>
            <a:off x="6508282" y="4825148"/>
            <a:ext cx="512064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dirty="0"/>
              <a:t>  ● Chain multiple MCP servers</a:t>
            </a:r>
          </a:p>
          <a:p>
            <a:pPr>
              <a:spcBef>
                <a:spcPts val="400"/>
              </a:spcBef>
            </a:pPr>
            <a:r>
              <a:rPr sz="1600" dirty="0"/>
              <a:t>  ● Memory / vector search tools</a:t>
            </a:r>
          </a:p>
          <a:p>
            <a:pPr>
              <a:spcBef>
                <a:spcPts val="400"/>
              </a:spcBef>
            </a:pPr>
            <a:r>
              <a:rPr sz="1600" dirty="0"/>
              <a:t>  ● Agent orchestration</a:t>
            </a:r>
          </a:p>
        </p:txBody>
      </p:sp>
    </p:spTree>
    <p:extLst>
      <p:ext uri="{BB962C8B-B14F-4D97-AF65-F5344CB8AC3E}">
        <p14:creationId xmlns:p14="http://schemas.microsoft.com/office/powerpoint/2010/main" val="184040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D412E-C1EF-4951-8BD7-D3C229EAE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90890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443</Words>
  <Application>Microsoft Office PowerPoint</Application>
  <PresentationFormat>Widescreen</PresentationFormat>
  <Paragraphs>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Model Context Protocol</vt:lpstr>
      <vt:lpstr>What is MCP?</vt:lpstr>
      <vt:lpstr>MCP Architecture </vt:lpstr>
      <vt:lpstr>MCP Primitives</vt:lpstr>
      <vt:lpstr>Tutorial: Weather MCP Server A Weather MCP Server built with Python and FastMCP that connects Claude Desktop to the US National Weather Service API, enabling real-time weather alerts and forecasts through natural language.</vt:lpstr>
      <vt:lpstr>Result</vt:lpstr>
      <vt:lpstr>What can you build with MCP?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Context Protocol</dc:title>
  <dc:creator>Yusuf Bolat</dc:creator>
  <cp:lastModifiedBy>Yusuf Bolat</cp:lastModifiedBy>
  <cp:revision>3</cp:revision>
  <dcterms:created xsi:type="dcterms:W3CDTF">2026-02-23T08:30:35Z</dcterms:created>
  <dcterms:modified xsi:type="dcterms:W3CDTF">2026-02-23T23:05:26Z</dcterms:modified>
</cp:coreProperties>
</file>